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0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09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" y="962863"/>
            <a:ext cx="543154" cy="543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PRELOG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66928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로그 이상 탐지 시스템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패턴 자동 탐지  ·  심각도 평가  ·  딥러닝 모델 비교 및 최적 모델 선정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603504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 보고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627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249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798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685032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95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 모델 3종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657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5138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학습 및 평가 방법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6025896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78040" y="1627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성능 지표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514600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7249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78040" y="2798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구조 및 워크플로우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3685032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953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78040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개선 방향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4855464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50657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78040" y="5138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6025896"/>
            <a:ext cx="521208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목적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" y="195498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110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파일에서 이상 패턴 자동 탐지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" y="2668219"/>
            <a:ext cx="341986" cy="3419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24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심각도 평가를 통한 우선순위 분류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300984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" y="3381451"/>
            <a:ext cx="341986" cy="3419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337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딥러닝 모델 비교로 최적 모델 선정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" y="4094683"/>
            <a:ext cx="341986" cy="34198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050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탐지 가능한 모델 구축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126480" y="1417320"/>
            <a:ext cx="5486400" cy="470916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8" name="Text 12"/>
          <p:cNvSpPr/>
          <p:nvPr/>
        </p:nvSpPr>
        <p:spPr>
          <a:xfrm>
            <a:off x="6446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분야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4652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228" y="2422428"/>
            <a:ext cx="385511" cy="38551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23760" y="23865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모니터링 및 알림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446520" y="326440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228" y="3355116"/>
            <a:ext cx="385511" cy="38551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23760" y="33192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예방 및 조기 대응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446520" y="41970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228" y="4287804"/>
            <a:ext cx="385511" cy="38551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2376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분석 자동화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6446520" y="51297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228" y="5220492"/>
            <a:ext cx="385511" cy="38551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223760" y="5184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효율성 향상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데이터셋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46120" cy="1554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361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4,978만 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로그 라인 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4173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소스: </a:t>
            </a: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pattern/prelog/logs/backup/  (Spring Boot 표준 로그)
</a:t>
            </a: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레벨: </a:t>
            </a: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· DEBUG · TRACE · WARN · ERROR · FATAL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137160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에러 로그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31,900,000개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28,246,114개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3,653,886개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7,930,902개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7,025,679개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905,223개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9,957,726개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9,232,124개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725,602개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92040"/>
            <a:ext cx="5394960" cy="1280160"/>
          </a:xfrm>
          <a:prstGeom prst="rect">
            <a:avLst/>
          </a:prstGeom>
          <a:solidFill>
            <a:srgbClr val="E7EFF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로그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3675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레벨: INFO / DEBUG / TRACE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Exception, Error, Failed 등 에러 키워드 없음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4892040"/>
            <a:ext cx="5394960" cy="1280160"/>
          </a:xfrm>
          <a:prstGeom prst="rect">
            <a:avLst/>
          </a:prstGeom>
          <a:solidFill>
            <a:srgbClr val="FDEAE1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로그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53675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레벨: WARN / ERROR / FATAL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Exception, Error, Failed, Fatal, Critical 등 키워드 포함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 탐지 모델 3종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7091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32F5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188549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DeepLog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기반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LSTM으로 실행 경로를 예측하고, 예측 오차가 크면 이상으로 판단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패턴 학습 능력 우수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 가능성 높음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463040"/>
            <a:ext cx="3611880" cy="47091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rgbClr val="132F5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3" y="1885493"/>
            <a:ext cx="435254" cy="435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LogAnomaly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6344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Template2Vec 기반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6344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로그를 템플릿으로 변환 후 벡터화, Z-score 기반 이상 탐지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6344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높음, 정상 로그 구분 우수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6344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탐지율 낮음 (False Negative 多)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463040"/>
            <a:ext cx="3611880" cy="47091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1" name="Shape 17"/>
          <p:cNvSpPr/>
          <p:nvPr/>
        </p:nvSpPr>
        <p:spPr>
          <a:xfrm>
            <a:off x="8458200" y="1783080"/>
            <a:ext cx="640080" cy="640080"/>
          </a:xfrm>
          <a:prstGeom prst="ellipse">
            <a:avLst/>
          </a:prstGeom>
          <a:solidFill>
            <a:srgbClr val="132F52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613" y="1885493"/>
            <a:ext cx="435254" cy="43525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2560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LogRobust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45820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Bi-LSTM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45820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 LSTM과 Attention으로 중요 구간을 강조하여 이상 점수 산출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45820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패턴 학습 가능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458200" y="5257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  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 길고 기본 임계값에서 실패 가능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TRAINING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학습 및 평가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33172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방식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로그만 사용하여 정상 패턴 학습 → 이상 패턴을 자동 감지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길이 10 (DeepLog·LogRobust) / 윈도우 크기 10 (LogAnomaly)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697480"/>
          <a:ext cx="4937760" cy="1005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빠른 학습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평가용 (권장)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10512"/>
            <a:ext cx="2606040" cy="685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8105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Accuracy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840" y="1810512"/>
            <a:ext cx="2606040" cy="685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0" y="18105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Precision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63640" y="2633472"/>
            <a:ext cx="2606040" cy="685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6334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 Recall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06840" y="2633472"/>
            <a:ext cx="2606040" cy="685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0" y="26334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점수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3456432"/>
            <a:ext cx="2606040" cy="685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4564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특이도 Specificity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006840" y="3456432"/>
            <a:ext cx="2606040" cy="6858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0" y="34564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23360"/>
            <a:ext cx="11064240" cy="2148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점수 (Weighted Score) 산출식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 =  F1 × 0.4  +  Accuracy × 0.3  +  Recall × 0.2  +  Precision × 0.1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22960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40%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정밀도·재현율의 균형 (가장 중요)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520440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30%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전체적인 예측 정확도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217920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 20%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이상을 놓치지 않는 능력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915400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10%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오탐을 줄이는 능력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TARGET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 성능 지표 &amp; 임계값 최적화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3317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정확도 (Accuracy)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이상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예측 중 맞는 비율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정밀도 (Precision)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이상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이상으로 탐지한 것 중 실제 이상 비율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재현율 (Recall)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이상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 이상 중 탐지한 비율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점수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이상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정밀도와 재현율의 조화 평균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특이도 (Specificity)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이상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정상을 정상으로 올바르게 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69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임계값 탐색 프로세스  ( --optimize-threshold 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275588" y="45262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518" y="4608210"/>
            <a:ext cx="348204" cy="348204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127558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48640" y="51846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점수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확인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4654296"/>
            <a:ext cx="219456" cy="21945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97580" y="45262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510" y="4608210"/>
            <a:ext cx="348204" cy="3482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97580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770632" y="51846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100개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후보 생성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654296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719572" y="45262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502" y="4608210"/>
            <a:ext cx="348204" cy="34820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19572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4992624" y="51846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임계값별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지표 계산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654296"/>
            <a:ext cx="219456" cy="21945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941564" y="4526280"/>
            <a:ext cx="512064" cy="51206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494" y="4608210"/>
            <a:ext cx="348204" cy="34820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941564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7214616" y="51846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지표 충족하는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최적값 선택</a:t>
            </a:r>
            <a:endParaRPr lang="en-US" sz="10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4654296"/>
            <a:ext cx="219456" cy="21945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10163556" y="45262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486" y="4608210"/>
            <a:ext cx="348204" cy="348204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163556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17"/>
          <p:cNvSpPr/>
          <p:nvPr/>
        </p:nvSpPr>
        <p:spPr>
          <a:xfrm>
            <a:off x="9436608" y="518464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임계값으로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재평가</a:t>
            </a:r>
            <a:endParaRPr lang="en-US" sz="1050" dirty="0"/>
          </a:p>
        </p:txBody>
      </p:sp>
      <p:sp>
        <p:nvSpPr>
          <p:cNvPr id="3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구조 및 실행 워크플로우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4688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77440" y="17190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907" y="1799539"/>
            <a:ext cx="341986" cy="3419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파싱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파일을 파싱하여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parsed_data.parquet 저장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267919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554480"/>
            <a:ext cx="2606040" cy="2468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8"/>
          <p:cNvSpPr/>
          <p:nvPr/>
        </p:nvSpPr>
        <p:spPr>
          <a:xfrm>
            <a:off x="3538728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5184648" y="17190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115" y="1799539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8728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분할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538728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80% / Valid·Test 20%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split_data/ 로 저장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679192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63056" y="1554480"/>
            <a:ext cx="2606040" cy="24688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9" name="Text 13"/>
          <p:cNvSpPr/>
          <p:nvPr/>
        </p:nvSpPr>
        <p:spPr>
          <a:xfrm>
            <a:off x="6345936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7991856" y="17190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323" y="1799539"/>
            <a:ext cx="341986" cy="34198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45936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학습 · 평가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345936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DeepLog · LogAnomaly · LogRobust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및 임계값 최적화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2679192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970264" y="1554480"/>
            <a:ext cx="2606040" cy="2468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18"/>
          <p:cNvSpPr/>
          <p:nvPr/>
        </p:nvSpPr>
        <p:spPr>
          <a:xfrm>
            <a:off x="9153144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Shape 19"/>
          <p:cNvSpPr/>
          <p:nvPr/>
        </p:nvSpPr>
        <p:spPr>
          <a:xfrm>
            <a:off x="10799064" y="17190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9531" y="1799539"/>
            <a:ext cx="341986" cy="34198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53144" y="2331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저장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9153144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비교표 · 그래프를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7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 폴더에 저장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산출물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594360" y="4910328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24"/>
          <p:cNvSpPr/>
          <p:nvPr/>
        </p:nvSpPr>
        <p:spPr>
          <a:xfrm>
            <a:off x="868680" y="48006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parsed_data.parquet  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파싱된 전체 로그 데이터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594360" y="5330952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26"/>
          <p:cNvSpPr/>
          <p:nvPr/>
        </p:nvSpPr>
        <p:spPr>
          <a:xfrm>
            <a:off x="868680" y="522122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split_data/  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 / test 분할 데이터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594360" y="5751576"/>
            <a:ext cx="91440" cy="914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28"/>
          <p:cNvSpPr/>
          <p:nvPr/>
        </p:nvSpPr>
        <p:spPr>
          <a:xfrm>
            <a:off x="868680" y="56418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results/log_specific_comparison_*/   </a:t>
            </a: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비교 결과 · 그래프 · 리포트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IMPROVEMENT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개선 방향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188915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82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관련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20116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확대 (20만 → 50만 개 이상), 정상/에러 로그 분류 정확도 향상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11064240" cy="105156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08376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" y="3096158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89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파라미터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00200" y="32186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10 → 20-30, Batch Size 64-128, Learning Rate 0.001 → 0.0001로 안정화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11064240" cy="105156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15384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" y="4303166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최적화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442569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--optimize-threshold 옵션 상시 사용 권장, 실제 목적에 맞게 목표 지표 조정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175504"/>
            <a:ext cx="11064240" cy="1051560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422392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" y="5510174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303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모델별 개선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00200" y="56327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DeepLog 임계값↑ (오탐 감소) · LogAnomaly 임계값↓ (탐지율↑) · LogRobust 하이퍼파라미터 튜닝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651510"/>
            <a:ext cx="480060" cy="4800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48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요약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로그 파일에서 이상 패턴을 자동으로 탐지하고, 심각도 평가로 우선순위를 분류하는 시스템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20440" cy="1234440"/>
          </a:xfrm>
          <a:prstGeom prst="rect">
            <a:avLst/>
          </a:prstGeom>
          <a:solidFill>
            <a:srgbClr val="132F5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12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4,978만 개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로그 데이터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103120"/>
            <a:ext cx="3520440" cy="1234440"/>
          </a:xfrm>
          <a:prstGeom prst="rect">
            <a:avLst/>
          </a:prstGeom>
          <a:solidFill>
            <a:srgbClr val="132F52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2212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3개 모델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262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DeepLog · LogAnomaly · LogRobust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2103120"/>
            <a:ext cx="3520440" cy="1234440"/>
          </a:xfrm>
          <a:prstGeom prst="rect">
            <a:avLst/>
          </a:prstGeom>
          <a:solidFill>
            <a:srgbClr val="132F52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2212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40%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27532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점수 최우선 가중치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성능 지표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2121408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14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70%↑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48640" y="45537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07208" y="4023360"/>
            <a:ext cx="2121408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2807208" y="4114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50%↑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807208" y="45537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65776" y="4023360"/>
            <a:ext cx="2121408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065776" y="4114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60%↑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065776" y="45537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24344" y="4023360"/>
            <a:ext cx="2121408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324344" y="4114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55%↑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324344" y="45537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582912" y="4023360"/>
            <a:ext cx="2121408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9582912" y="4114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80%↑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582912" y="4553712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특이도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결론  ·  종합 점수( F1 40% + Accuracy 30% + Recall 20% + Precision 10% )와 --optimize-threshold 를 기준으로 최적 모델과 임계값을 선정합니다.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와이드스크린</PresentationFormat>
  <Paragraphs>228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김완수</cp:lastModifiedBy>
  <cp:revision>2</cp:revision>
  <dcterms:created xsi:type="dcterms:W3CDTF">2026-07-27T06:06:00Z</dcterms:created>
  <dcterms:modified xsi:type="dcterms:W3CDTF">2026-07-27T06:14:54Z</dcterms:modified>
</cp:coreProperties>
</file>